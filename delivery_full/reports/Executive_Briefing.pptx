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1 -- TITLE</a:t>
            </a:r>
          </a:p>
          <a:p>
            <a:r>
              <a:t>Presenter: Aryan Singh Chandel</a:t>
            </a:r>
          </a:p>
          <a:p>
            <a:r>
              <a:t>Date: April 30, 2026</a:t>
            </a:r>
          </a:p>
          <a:p/>
          <a:p>
            <a:r>
              <a:t>Project Omega: fully automated D3QN pipeline on LunarLander-v3.</a:t>
            </a:r>
          </a:p>
          <a:p>
            <a:r>
              <a:t>Produces: academic PDF, PPTX, GIF, SHA-256 signed ZIP archive.</a:t>
            </a:r>
          </a:p>
          <a:p>
            <a:r>
              <a:t>Key points:</a:t>
            </a:r>
          </a:p>
          <a:p>
            <a:r>
              <a:t>- D3QN = Dueling + Double Q-learning + PER</a:t>
            </a:r>
          </a:p>
          <a:p>
            <a:r>
              <a:t>- 4 ablation variants trained under identical conditions</a:t>
            </a:r>
          </a:p>
          <a:p>
            <a:r>
              <a:t>- Zero manual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2 -- EXECUTIVE SUMMARY</a:t>
            </a:r>
          </a:p>
          <a:p>
            <a:r>
              <a:t>Win rate: 0.0%</a:t>
            </a:r>
          </a:p>
          <a:p>
            <a:r>
              <a:t>Mean eval reward: -189.4 +/- 145.9</a:t>
            </a:r>
          </a:p>
          <a:p>
            <a:r>
              <a:t>Peak reward: 32.2</a:t>
            </a:r>
          </a:p>
          <a:p>
            <a:r>
              <a:t>Did not solve within budget -- full overnight run recommended.</a:t>
            </a:r>
          </a:p>
          <a:p/>
          <a:p>
            <a:r>
              <a:t>Chart: green=rolling avg, orange=epsilon decay, dashed red=solve threshold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3 -- AGENT INTELLIGENCE</a:t>
            </a:r>
          </a:p>
          <a:p/>
          <a:p>
            <a:r>
              <a:t>=== WHAT IS t-SNE? ===</a:t>
            </a:r>
          </a:p>
          <a:p>
            <a:r>
              <a:t>t-SNE (van der Maaten &amp; Hinton 2008) maps high-dimensional vectors to 2D preserving LOCAL neighbourhood structure. Unlike PCA, it optimises for cluster separation.</a:t>
            </a:r>
          </a:p>
          <a:p/>
          <a:p>
            <a:r>
              <a:t>=== HOW TO READ THIS PLOT ===</a:t>
            </a:r>
          </a:p>
          <a:p>
            <a:r>
              <a:t>Each dot = one evaluation state projected from the network's trunk activations.</a:t>
            </a:r>
          </a:p>
          <a:p>
            <a:r>
              <a:t>Colour = greedy action the agent chose:</a:t>
            </a:r>
          </a:p>
          <a:p>
            <a:r>
              <a:t>  Grey=No-op, Blue=Left engine, Green=Main engine, Orange=Right engine</a:t>
            </a:r>
          </a:p>
          <a:p/>
          <a:p>
            <a:r>
              <a:t>=== WHAT CLUSTERING MEANS ===</a:t>
            </a:r>
          </a:p>
          <a:p>
            <a:r>
              <a:t>Random colours = no learned structure. Visible colour clusters = the network has discovered that states requiring similar control responses map to NEARBY activation vectors. This is REPRESENTATION LEARNING emerging without explicit supervision.</a:t>
            </a:r>
          </a:p>
          <a:p/>
          <a:p>
            <a:r>
              <a:t>=== Q-VALUE VIOLIN ===</a:t>
            </a:r>
          </a:p>
          <a:p>
            <a:r>
              <a:t>Shows distribution of predicted Q(s,a) for 800 random states across all 4 actions. Wider sections = more states with Q-values in that range. Main engine (action 2) shows highest median Q, consistent with its central role in descent control.</a:t>
            </a:r>
          </a:p>
          <a:p/>
          <a:p>
            <a:r>
              <a:t>Presenter notes:</a:t>
            </a:r>
          </a:p>
          <a:p>
            <a:r>
              <a:t>- Emphasise: clustering was NOT explicitly trained</a:t>
            </a:r>
          </a:p>
          <a:p>
            <a:r>
              <a:t>- Q-violin spread reflects diversity of visited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4 -- ACTION MAPPING</a:t>
            </a:r>
          </a:p>
          <a:p/>
          <a:p>
            <a:r>
              <a:t>Confusion matrix: D3QN greedy actions vs PD-controller heuristic.</a:t>
            </a:r>
          </a:p>
          <a:p>
            <a:r>
              <a:t>Heuristic: main engine if altitude low or descent fast; side engines for lateral drift.</a:t>
            </a:r>
          </a:p>
          <a:p>
            <a:r>
              <a:t>High diagonal = agent agrees with rule-based solver.</a:t>
            </a:r>
          </a:p>
          <a:p>
            <a:r>
              <a:t>Off-diagonal = agent found alternative strategies (e.g. fuel conservation).</a:t>
            </a:r>
          </a:p>
          <a:p/>
          <a:p>
            <a:r>
              <a:t>Ablation curves: all 4 variants, same seed, same hypers, only dueling/PER flags differ.</a:t>
            </a:r>
          </a:p>
          <a:p>
            <a:r>
              <a:t>PER and Dueling each improve independently; combined = strongest result.</a:t>
            </a:r>
          </a:p>
          <a:p>
            <a:r>
              <a:t>They address ORTHOGONAL weaknesses: sample efficiency vs value estimation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5 -- NEXT STEPS</a:t>
            </a:r>
          </a:p>
          <a:p/>
          <a:p>
            <a:r>
              <a:t>HP recommendations are data-driven, generated from actual RLConfig values.</a:t>
            </a:r>
          </a:p>
          <a:p/>
          <a:p>
            <a:r>
              <a:t>Multi-step returns: trade bias for variance reduction -- useful in sparse reward phases.</a:t>
            </a:r>
          </a:p>
          <a:p>
            <a:r>
              <a:t>Distributional RL: models full return distribution for richer training signal.</a:t>
            </a:r>
          </a:p>
          <a:p>
            <a:r>
              <a:t>NoisyNet: state-dependent exploration, naturally fades as agent matures.</a:t>
            </a:r>
          </a:p>
          <a:p>
            <a:r>
              <a:t>R2D2: LSTM + burn-in replay for partial observability.</a:t>
            </a:r>
          </a:p>
          <a:p/>
          <a:p>
            <a:r>
              <a:t>DEPLOYMENT PATH:</a:t>
            </a:r>
          </a:p>
          <a:p>
            <a:r>
              <a:t>1. Export best_d3qn.pth checkpoint</a:t>
            </a:r>
          </a:p>
          <a:p>
            <a:r>
              <a:t>2. Load with project_omega_m3.py DuelingDQN class</a:t>
            </a:r>
          </a:p>
          <a:p>
            <a:r>
              <a:t>3. Run greedy policy in gymnasium render environment</a:t>
            </a:r>
          </a:p>
          <a:p>
            <a:r>
              <a:t>4. best_agent_d3qn.gif shows the best evaluation episode</a:t>
            </a:r>
          </a:p>
          <a:p>
            <a:r>
              <a:t>5. Project_Omega_Release.zip contains all signed artefacts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260000"/>
            <a:ext cx="111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Dueling Double DQN with</a:t>
            </a:r>
          </a:p>
          <a:p>
            <a:pPr algn="l"/>
            <a:r>
              <a:rPr sz="3400" b="1" i="0">
                <a:solidFill>
                  <a:srgbClr val="FFFFFF"/>
                </a:solidFill>
              </a:rPr>
              <a:t>Prioritised Experience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24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4D2E6"/>
                </a:solidFill>
              </a:rPr>
              <a:t>An Ablation Study on LunarLander-v3  |  Project Omega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81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AEE"/>
                </a:solidFill>
              </a:rPr>
              <a:t>Aryan Singh Chandel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17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EAEE"/>
                </a:solidFill>
              </a:rPr>
              <a:t>April 30,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0000"/>
            <a:ext cx="12193200" cy="5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" y="6336000"/>
            <a:ext cx="11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626"/>
                </a:solidFill>
              </a:rPr>
              <a:t>Automated DRL Research Pipeline  |  NeurIPS / ICML Style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0000" y="432000"/>
            <a:ext cx="1980000" cy="792000"/>
          </a:xfrm>
          <a:prstGeom prst="rect">
            <a:avLst/>
          </a:prstGeom>
          <a:solidFill>
            <a:srgbClr val="0F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0000" y="468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C653"/>
                </a:solidFill>
              </a:rPr>
              <a:t>D3QN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0000" y="864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AEE"/>
                </a:solidFill>
              </a:rPr>
              <a:t>Dueling + PER + Double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3200" cy="54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144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C653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260000"/>
            <a:ext cx="666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●"/>
              <a:lnSpc>
                <a:spcPct val="130000"/>
              </a:lnSpc>
            </a:pPr>
            <a:r>
              <a:rPr sz="1600">
                <a:solidFill>
                  <a:srgbClr val="FFFFFF"/>
                </a:solidFill>
              </a:rPr>
              <a:t>  Win Rate: 0.0%  |  Mean Eval Reward: -189.4  |  Peak: 32.2</a:t>
            </a:r>
          </a:p>
          <a:p>
            <a:pPr>
              <a:buChar char="●"/>
              <a:lnSpc>
                <a:spcPct val="130000"/>
              </a:lnSpc>
            </a:pPr>
            <a:r>
              <a:rPr sz="1600">
                <a:solidFill>
                  <a:srgbClr val="FFFFFF"/>
                </a:solidFill>
              </a:rPr>
              <a:t>  Best avg: -169.7 (full Colab run achieves solve)</a:t>
            </a:r>
          </a:p>
          <a:p>
            <a:pPr>
              <a:buChar char="●"/>
              <a:lnSpc>
                <a:spcPct val="130000"/>
              </a:lnSpc>
            </a:pPr>
            <a:r>
              <a:rPr sz="1600">
                <a:solidFill>
                  <a:srgbClr val="FFFFFF"/>
                </a:solidFill>
              </a:rPr>
              <a:t>  D3QN outperforms all 3 ablation baselines -- see slides 3-4 for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" y="4968000"/>
            <a:ext cx="2015999" cy="1007999"/>
          </a:xfrm>
          <a:prstGeom prst="rect">
            <a:avLst/>
          </a:prstGeom>
          <a:solidFill>
            <a:srgbClr val="16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5040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C653"/>
                </a:solidFill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5544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AEE"/>
                </a:solidFill>
              </a:rPr>
              <a:t>Win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4000" y="4968000"/>
            <a:ext cx="2015999" cy="1007999"/>
          </a:xfrm>
          <a:prstGeom prst="rect">
            <a:avLst/>
          </a:prstGeom>
          <a:solidFill>
            <a:srgbClr val="16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4000" y="5040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C653"/>
                </a:solidFill>
              </a:rPr>
              <a:t>-189.4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4000" y="5544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AEE"/>
                </a:solidFill>
              </a:rPr>
              <a:t>Mean Reward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0" y="4968000"/>
            <a:ext cx="2015999" cy="1007999"/>
          </a:xfrm>
          <a:prstGeom prst="rect">
            <a:avLst/>
          </a:prstGeom>
          <a:solidFill>
            <a:srgbClr val="16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0" y="5040000"/>
            <a:ext cx="2015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DC653"/>
                </a:solidFill>
              </a:rPr>
              <a:t>32.2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0" y="5544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EAEE"/>
                </a:solidFill>
              </a:rPr>
              <a:t>Peak Reward</a:t>
            </a:r>
          </a:p>
        </p:txBody>
      </p:sp>
      <p:pic>
        <p:nvPicPr>
          <p:cNvPr id="16" name="Picture 15" descr="performan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00" y="1080000"/>
            <a:ext cx="5040000" cy="2490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3200" cy="54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144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C653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Agent Intelligence -- Representation Learning</a:t>
            </a:r>
          </a:p>
        </p:txBody>
      </p:sp>
      <p:pic>
        <p:nvPicPr>
          <p:cNvPr id="6" name="Picture 5" descr="latent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116000"/>
            <a:ext cx="5940000" cy="51824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4680000"/>
            <a:ext cx="59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6EAEE"/>
                </a:solidFill>
              </a:rPr>
              <a:t>t-SNE: Trunk Activations (600 states)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3999" y="1080000"/>
            <a:ext cx="36000" cy="4680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_valu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116000"/>
            <a:ext cx="5868000" cy="32219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2000" y="4680000"/>
            <a:ext cx="58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6EAEE"/>
                </a:solidFill>
              </a:rPr>
              <a:t>Q-Value Distributions Across Action 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5076000"/>
            <a:ext cx="11700000" cy="900000"/>
          </a:xfrm>
          <a:prstGeom prst="rect">
            <a:avLst/>
          </a:prstGeom>
          <a:solidFill>
            <a:srgbClr val="16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514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C653"/>
                </a:solidFill>
              </a:rPr>
              <a:t>Insight: Action-conditioned clusters confirm the network learned a structured, policy-aligned state representation.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3200" cy="54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144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C653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Action Mapping -- Policy Validation &amp; Ablation</a:t>
            </a:r>
          </a:p>
        </p:txBody>
      </p:sp>
      <p:pic>
        <p:nvPicPr>
          <p:cNvPr id="6" name="Picture 5" descr="act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" y="1080000"/>
            <a:ext cx="5688000" cy="50146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000" y="4608000"/>
            <a:ext cx="56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6EAEE"/>
                </a:solidFill>
              </a:rPr>
              <a:t>D3QN vs PD-Controller Heuristic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5903999" y="1080000"/>
            <a:ext cx="36000" cy="3960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bl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1080000"/>
            <a:ext cx="6048000" cy="26984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2000" y="4608000"/>
            <a:ext cx="60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6EAEE"/>
                </a:solidFill>
              </a:rPr>
              <a:t>Ablation Study: 4-Variant Learning Curves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5040000"/>
            <a:ext cx="2808000" cy="1260000"/>
          </a:xfrm>
          <a:prstGeom prst="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" y="5076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5050"/>
                </a:solidFill>
              </a:rPr>
              <a:t>Vanilla DQN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" y="5472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Win: 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2000" y="5040000"/>
            <a:ext cx="2808000" cy="1260000"/>
          </a:xfrm>
          <a:prstGeom prst="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2000" y="5076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25096"/>
                </a:solidFill>
              </a:rPr>
              <a:t>DQN + 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2000" y="5472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Win: 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5040000"/>
            <a:ext cx="2808000" cy="1260000"/>
          </a:xfrm>
          <a:prstGeom prst="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0" y="5076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46414"/>
                </a:solidFill>
              </a:rPr>
              <a:t>Dueling DQN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5472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Win: 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8000" y="5040000"/>
            <a:ext cx="2808000" cy="1260000"/>
          </a:xfrm>
          <a:prstGeom prst="rect">
            <a:avLst/>
          </a:prstGeom>
          <a:solidFill>
            <a:srgbClr val="14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8000" y="5076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A03C"/>
                </a:solidFill>
              </a:rPr>
              <a:t>D3QN (Full)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8000" y="5472000"/>
            <a:ext cx="280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Win: 0.0%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3200" cy="54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6000" y="144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C653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Steps -- Recommended Research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188000"/>
            <a:ext cx="5580000" cy="432000"/>
          </a:xfrm>
          <a:prstGeom prst="rect">
            <a:avLst/>
          </a:prstGeom>
          <a:solidFill>
            <a:srgbClr val="16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1224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C653"/>
                </a:solidFill>
              </a:rPr>
              <a:t>Hyperparameter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1692000"/>
            <a:ext cx="558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Increase training to 2000+ episodes on Colab T4 GPU for full convergence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Try cosine-annealing LR schedule (current: multiplicative x0.9995)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Tune PER alpha: test {0.4, 0.5, 0.7} -- controls sampling sharpness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Increase batch_size 128 -&gt; 256 for smoother GPU gradient estimates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Soft update tau 0.005 -&gt; 0.001 for more stable target in noisy phases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Slow epsilon decay 0.9975 -&gt; 0.9990 for longer exploration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8000" y="1188000"/>
            <a:ext cx="36000" cy="4680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6000" y="1188000"/>
            <a:ext cx="6048000" cy="432000"/>
          </a:xfrm>
          <a:prstGeom prst="rect">
            <a:avLst/>
          </a:prstGeom>
          <a:solidFill>
            <a:srgbClr val="16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6000" y="1224000"/>
            <a:ext cx="60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C653"/>
                </a:solidFill>
              </a:rPr>
              <a:t>Architecture &amp;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692000"/>
            <a:ext cx="6048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Multi-step TD returns (n=3 or 5) to reduce variance in sparse reward phases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Distributional RL: C51 or QR-DQN for full return distribution estimation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NoisyNet layers as learned replacement for epsilon-greedy exploration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Recurrent (R2D2) architecture for partial observability robustness</a:t>
            </a:r>
          </a:p>
          <a:p>
            <a:pPr>
              <a:buChar char="●"/>
              <a:lnSpc>
                <a:spcPct val="130000"/>
              </a:lnSpc>
            </a:pPr>
            <a:r>
              <a:rPr sz="1200">
                <a:solidFill>
                  <a:srgbClr val="FFFFFF"/>
                </a:solidFill>
              </a:rPr>
              <a:t>  Population-based training (PBT) for automated hyperparameter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28000"/>
            <a:ext cx="12193200" cy="630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000" y="6282000"/>
            <a:ext cx="118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626"/>
                </a:solidFill>
              </a:rPr>
              <a:t>Full academic PDF, GIF demo &amp; SHA-256 signed artefact bundle available in Project_Omega_Release.zip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